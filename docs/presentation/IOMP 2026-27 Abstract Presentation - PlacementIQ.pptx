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80" r:id="rId3"/>
    <p:sldId id="307" r:id="rId4"/>
    <p:sldId id="274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</p:sldIdLst>
  <p:sldSz cx="9144000" cy="5143500" type="screen16x9"/>
  <p:notesSz cx="9144000" cy="51435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Times New Roman Bold" panose="02020803070505020304" pitchFamily="18" charset="0"/>
      <p:bold r:id="rId25"/>
    </p:embeddedFont>
    <p:embeddedFont>
      <p:font typeface="Trebuchet MS" panose="020B0603020202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927" userDrawn="1">
          <p15:clr>
            <a:srgbClr val="A4A3A4"/>
          </p15:clr>
        </p15:guide>
        <p15:guide id="2" pos="2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561"/>
    <a:srgbClr val="C821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6340" autoAdjust="0"/>
  </p:normalViewPr>
  <p:slideViewPr>
    <p:cSldViewPr snapToGrid="0" showGuides="1">
      <p:cViewPr varScale="1">
        <p:scale>
          <a:sx n="109" d="100"/>
          <a:sy n="109" d="100"/>
        </p:scale>
        <p:origin x="730" y="19"/>
      </p:cViewPr>
      <p:guideLst>
        <p:guide orient="horz" pos="2927"/>
        <p:guide pos="21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font" Target="fonts/font9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latin typeface="Times New Roman"/>
              </a:rPr>
              <a:t>Cut-off screening vs. proposed system (% of pairs)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pairs</c:v>
                </c:pt>
              </c:strCache>
            </c:strRef>
          </c:tx>
          <c:dPt>
            <c:idx val="0"/>
            <c:spPr>
              <a:solidFill>
                <a:srgbClr val="8C96A8"/>
              </a:solidFill>
            </c:spPr>
          </c:dPt>
          <c:dPt>
            <c:idx val="1"/>
            <c:spPr>
              <a:solidFill>
                <a:srgbClr val="0B3D91"/>
              </a:solidFill>
            </c:spPr>
          </c:dPt>
          <c:dPt>
            <c:idx val="2"/>
            <c:spPr>
              <a:solidFill>
                <a:srgbClr val="C8102E"/>
              </a:solidFill>
            </c:spPr>
          </c:dPt>
          <c:dPt>
            <c:idx val="3"/>
            <c:spPr>
              <a:solidFill>
                <a:srgbClr val="1D7A4A"/>
              </a:solidFill>
            </c:spPr>
          </c:dPt>
          <c:cat>
            <c:strRef>
              <c:f>Sheet1!$A$2:$A$5</c:f>
              <c:strCache>
                <c:ptCount val="4"/>
                <c:pt idx="0">
                  <c:v>Pass CGPA cut-off</c:v>
                </c:pt>
                <c:pt idx="1">
                  <c:v>Eligible / Nearly (ours)</c:v>
                </c:pt>
                <c:pt idx="2">
                  <c:v>Cut-off passes with skill gap</c:v>
                </c:pt>
                <c:pt idx="3">
                  <c:v>Cut-off rejects that can improve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51.8</c:v>
                </c:pt>
                <c:pt idx="1">
                  <c:v>10.2</c:v>
                </c:pt>
                <c:pt idx="2">
                  <c:v>80.3</c:v>
                </c:pt>
                <c:pt idx="3">
                  <c:v>10.3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55650" y="28813"/>
            <a:ext cx="7632700" cy="125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561657" y="967422"/>
            <a:ext cx="8076565" cy="338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3388995" y="4738052"/>
            <a:ext cx="2366010" cy="360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7878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365490" y="4799612"/>
            <a:ext cx="27813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1445" lv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marL="131445" lvl="1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2pPr>
            <a:lvl3pPr marL="131445" lvl="2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3pPr>
            <a:lvl4pPr marL="131445" lvl="3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4pPr>
            <a:lvl5pPr marL="131445" lvl="4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5pPr>
            <a:lvl6pPr marL="131445" lvl="5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6pPr>
            <a:lvl7pPr marL="131445" lvl="6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7pPr>
            <a:lvl8pPr marL="131445" lvl="7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8pPr>
            <a:lvl9pPr marL="131445" lvl="8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9pPr>
          </a:lstStyle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3388995" y="4738052"/>
            <a:ext cx="2366010" cy="360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7878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365490" y="4799612"/>
            <a:ext cx="27813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1445" lv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marL="131445" lvl="1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2pPr>
            <a:lvl3pPr marL="131445" lvl="2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3pPr>
            <a:lvl4pPr marL="131445" lvl="3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4pPr>
            <a:lvl5pPr marL="131445" lvl="4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5pPr>
            <a:lvl6pPr marL="131445" lvl="5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6pPr>
            <a:lvl7pPr marL="131445" lvl="6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7pPr>
            <a:lvl8pPr marL="131445" lvl="7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8pPr>
            <a:lvl9pPr marL="131445" lvl="8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9pPr>
          </a:lstStyle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55650" y="28813"/>
            <a:ext cx="7632700" cy="125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ftr" idx="11"/>
          </p:nvPr>
        </p:nvSpPr>
        <p:spPr>
          <a:xfrm>
            <a:off x="3388995" y="4738052"/>
            <a:ext cx="2366010" cy="360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7878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365490" y="4799612"/>
            <a:ext cx="27813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1445" lv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marL="131445" lvl="1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2pPr>
            <a:lvl3pPr marL="131445" lvl="2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3pPr>
            <a:lvl4pPr marL="131445" lvl="3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4pPr>
            <a:lvl5pPr marL="131445" lvl="4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5pPr>
            <a:lvl6pPr marL="131445" lvl="5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6pPr>
            <a:lvl7pPr marL="131445" lvl="6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7pPr>
            <a:lvl8pPr marL="131445" lvl="7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8pPr>
            <a:lvl9pPr marL="131445" lvl="8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9pPr>
          </a:lstStyle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55650" y="28813"/>
            <a:ext cx="7632700" cy="125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ftr" idx="11"/>
          </p:nvPr>
        </p:nvSpPr>
        <p:spPr>
          <a:xfrm>
            <a:off x="3388995" y="4738052"/>
            <a:ext cx="2366010" cy="360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7878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365490" y="4799612"/>
            <a:ext cx="27813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1445" lv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marL="131445" lvl="1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2pPr>
            <a:lvl3pPr marL="131445" lvl="2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3pPr>
            <a:lvl4pPr marL="131445" lvl="3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4pPr>
            <a:lvl5pPr marL="131445" lvl="4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5pPr>
            <a:lvl6pPr marL="131445" lvl="5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6pPr>
            <a:lvl7pPr marL="131445" lvl="6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7pPr>
            <a:lvl8pPr marL="131445" lvl="7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8pPr>
            <a:lvl9pPr marL="131445" lvl="8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9pPr>
          </a:lstStyle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ftr" idx="11"/>
          </p:nvPr>
        </p:nvSpPr>
        <p:spPr>
          <a:xfrm>
            <a:off x="3388995" y="4738052"/>
            <a:ext cx="2366010" cy="360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7878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38" name="Google Shape;38;p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365490" y="4799612"/>
            <a:ext cx="27813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1445" lv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marL="131445" lvl="1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2pPr>
            <a:lvl3pPr marL="131445" lvl="2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3pPr>
            <a:lvl4pPr marL="131445" lvl="3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4pPr>
            <a:lvl5pPr marL="131445" lvl="4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5pPr>
            <a:lvl6pPr marL="131445" lvl="5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6pPr>
            <a:lvl7pPr marL="131445" lvl="6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7pPr>
            <a:lvl8pPr marL="131445" lvl="7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8pPr>
            <a:lvl9pPr marL="131445" lvl="8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9pPr>
          </a:lstStyle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"/>
          <p:cNvSpPr txBox="1">
            <a:spLocks noGrp="1"/>
          </p:cNvSpPr>
          <p:nvPr>
            <p:ph type="title"/>
          </p:nvPr>
        </p:nvSpPr>
        <p:spPr>
          <a:xfrm>
            <a:off x="755650" y="28813"/>
            <a:ext cx="7632700" cy="125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body" idx="1"/>
          </p:nvPr>
        </p:nvSpPr>
        <p:spPr>
          <a:xfrm>
            <a:off x="561657" y="967422"/>
            <a:ext cx="8076565" cy="338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388995" y="4738052"/>
            <a:ext cx="2366010" cy="360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7878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10" name="Google Shape;10;p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365490" y="4799612"/>
            <a:ext cx="27813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1445" lv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marL="131445" lvl="1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2pPr>
            <a:lvl3pPr marL="131445" lvl="2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3pPr>
            <a:lvl4pPr marL="131445" lvl="3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4pPr>
            <a:lvl5pPr marL="131445" lvl="4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5pPr>
            <a:lvl6pPr marL="131445" lvl="5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6pPr>
            <a:lvl7pPr marL="131445" lvl="6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7pPr>
            <a:lvl8pPr marL="131445" lvl="7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8pPr>
            <a:lvl9pPr marL="131445" lvl="8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rgbClr val="87878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9pPr>
          </a:lstStyle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>
            <a:spLocks noGrp="1"/>
          </p:cNvSpPr>
          <p:nvPr>
            <p:ph type="title"/>
          </p:nvPr>
        </p:nvSpPr>
        <p:spPr>
          <a:xfrm>
            <a:off x="847090" y="364490"/>
            <a:ext cx="7153910" cy="123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noAutofit/>
          </a:bodyPr>
          <a:lstStyle/>
          <a:p>
            <a:pPr algn="ctr"/>
            <a:br>
              <a:rPr lang="en-US" sz="2000" dirty="0">
                <a:latin typeface="Times New Roman Regular" panose="02020603050405020304" charset="0"/>
                <a:cs typeface="Times New Roman Regular" panose="02020603050405020304" charset="0"/>
              </a:rPr>
            </a:br>
            <a:r>
              <a:rPr lang="en-US" altLang="en-US" sz="2400" b="1" dirty="0">
                <a:latin typeface="Times New Roman Bold" panose="02020603050405020304" charset="0"/>
                <a:cs typeface="Times New Roman Bold" panose="02020603050405020304" charset="0"/>
              </a:rPr>
              <a:t>Placement</a:t>
            </a:r>
            <a:r>
              <a:rPr lang="en-US" altLang="en-US" sz="2400" b="1" dirty="0">
                <a:solidFill>
                  <a:srgbClr val="C82134"/>
                </a:solidFill>
                <a:latin typeface="Times New Roman Bold" panose="02020603050405020304" charset="0"/>
                <a:cs typeface="Times New Roman Bold" panose="02020603050405020304" charset="0"/>
              </a:rPr>
              <a:t>I</a:t>
            </a:r>
            <a:r>
              <a:rPr lang="en-US" altLang="en-US" sz="2400" b="1" dirty="0">
                <a:solidFill>
                  <a:srgbClr val="1F3561"/>
                </a:solidFill>
                <a:latin typeface="Times New Roman Bold" panose="02020603050405020304" charset="0"/>
                <a:cs typeface="Times New Roman Bold" panose="02020603050405020304" charset="0"/>
              </a:rPr>
              <a:t>Q</a:t>
            </a:r>
            <a:r>
              <a:rPr lang="en-US" altLang="en-US" sz="2400" b="1" dirty="0">
                <a:latin typeface="Times New Roman Bold" panose="02020603050405020304" charset="0"/>
                <a:cs typeface="Times New Roman Bold" panose="02020603050405020304" charset="0"/>
              </a:rPr>
              <a:t> Enterprise</a:t>
            </a:r>
            <a:br>
              <a:rPr lang="en-US" altLang="en-US" sz="2000" dirty="0">
                <a:latin typeface="Times New Roman Regular" panose="02020603050405020304" charset="0"/>
                <a:cs typeface="Times New Roman Regular" panose="02020603050405020304" charset="0"/>
              </a:rPr>
            </a:br>
            <a:r>
              <a:rPr lang="en-US" altLang="en-US" sz="2000" dirty="0">
                <a:latin typeface="Times New Roman Regular" panose="02020603050405020304" charset="0"/>
                <a:cs typeface="Times New Roman Regular" panose="02020603050405020304" charset="0"/>
              </a:rPr>
              <a:t>AI-Powered Placement and Career Readiness System</a:t>
            </a:r>
            <a:endParaRPr sz="20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44195" y="1863566"/>
            <a:ext cx="8099425" cy="2613025"/>
          </a:xfrm>
        </p:spPr>
        <p:txBody>
          <a:bodyPr>
            <a:noAutofit/>
          </a:bodyPr>
          <a:lstStyle/>
          <a:p>
            <a:pPr marL="0" indent="0"/>
            <a:r>
              <a:rPr lang="en-US" b="1" u="sng" dirty="0">
                <a:latin typeface="Times New Roman Regular" panose="02020603050405020304" charset="0"/>
                <a:cs typeface="Times New Roman Regular" panose="02020603050405020304" charset="0"/>
              </a:rPr>
              <a:t>Team Members:</a:t>
            </a:r>
            <a:r>
              <a:rPr lang="en-US" b="1" dirty="0">
                <a:latin typeface="Times New Roman Regular" panose="02020603050405020304" charset="0"/>
                <a:cs typeface="Times New Roman Regular" panose="02020603050405020304" charset="0"/>
              </a:rPr>
              <a:t> 					</a:t>
            </a:r>
            <a:r>
              <a:rPr lang="en-US" b="1" u="sng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Guided by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:</a:t>
            </a:r>
            <a:endParaRPr lang="en-US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/>
            <a:r>
              <a:rPr lang="en-US" dirty="0" err="1">
                <a:latin typeface="Times New Roman Regular" panose="02020603050405020304" charset="0"/>
                <a:cs typeface="Times New Roman Regular" panose="02020603050405020304" charset="0"/>
              </a:rPr>
              <a:t>Shaganti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Vivek Goud                       23EG105F59		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Dr. Kamalakar Ramineni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Puram Preethi                                   23EG105F52		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Assistant Professor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Akshaya Reddy                                23EG105F03</a:t>
            </a:r>
          </a:p>
          <a:p>
            <a:pPr marL="0" indent="0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Bandari </a:t>
            </a:r>
            <a:r>
              <a:rPr lang="en-US" dirty="0" err="1">
                <a:latin typeface="Times New Roman Regular" panose="02020603050405020304" charset="0"/>
                <a:cs typeface="Times New Roman Regular" panose="02020603050405020304" charset="0"/>
              </a:rPr>
              <a:t>laxmisri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                              23EG105F09</a:t>
            </a:r>
          </a:p>
          <a:p>
            <a:b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</a:b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                 </a:t>
            </a:r>
          </a:p>
          <a:p>
            <a:pPr marL="0" indent="0"/>
            <a:r>
              <a:rPr lang="en-US" sz="1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endParaRPr lang="en-IN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IN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45" name="Google Shape;45;p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</a:t>
            </a:r>
          </a:p>
        </p:txBody>
      </p:sp>
      <p:sp>
        <p:nvSpPr>
          <p:cNvPr id="46" name="Google Shape;46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314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bg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</a:t>
            </a:fld>
            <a:endParaRPr>
              <a:solidFill>
                <a:schemeClr val="bg1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240" y="670560"/>
            <a:ext cx="7797800" cy="537845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ABSTRACT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9935" y="1208405"/>
            <a:ext cx="7273290" cy="4567555"/>
          </a:xfrm>
        </p:spPr>
        <p:txBody>
          <a:bodyPr>
            <a:noAutofit/>
          </a:bodyPr>
          <a:lstStyle/>
          <a:p>
            <a:pPr marL="228600" indent="0" algn="just">
              <a:buFont typeface="Arial" panose="020B0704020202020204" pitchFamily="34" charset="0"/>
            </a:pPr>
            <a:endParaRPr lang="en-US" altLang="en-US" sz="1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285750" algn="just">
              <a:buFont typeface="Arial" panose="020B0704020202020204" pitchFamily="34" charset="0"/>
              <a:buChar char="•"/>
            </a:pPr>
            <a:endParaRPr lang="en-US" altLang="en-US" sz="1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285750" algn="just">
              <a:buFont typeface="Arial" panose="020B0704020202020204" pitchFamily="34" charset="0"/>
              <a:buChar char="•"/>
            </a:pPr>
            <a:r>
              <a:rPr lang="en-US" altLang="en-US" sz="1600" dirty="0">
                <a:latin typeface="Times New Roman Regular" panose="02020603050405020304" charset="0"/>
                <a:cs typeface="Times New Roman Regular" panose="02020603050405020304" charset="0"/>
              </a:rPr>
              <a:t>PlacementIQ Enterprise centralizes campus drives, company details, eligibility, packages, and alumni.</a:t>
            </a:r>
          </a:p>
          <a:p>
            <a:pPr marL="514350" indent="-285750" algn="just">
              <a:buFont typeface="Arial" panose="020B0704020202020204" pitchFamily="34" charset="0"/>
              <a:buChar char="•"/>
            </a:pPr>
            <a:endParaRPr lang="en-US" altLang="en-US" sz="16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285750" algn="just">
              <a:buFont typeface="Arial" panose="020B0704020202020204" pitchFamily="34" charset="0"/>
              <a:buChar char="•"/>
            </a:pPr>
            <a:r>
              <a:rPr lang="en-US" altLang="en-US" sz="1600" dirty="0">
                <a:latin typeface="Times New Roman Regular" panose="02020603050405020304" charset="0"/>
                <a:cs typeface="Times New Roman Regular" panose="02020603050405020304" charset="0"/>
              </a:rPr>
              <a:t>It analyzes CGPA, skills, resume, projects, internships, and coding profiles to assess placement readiness.</a:t>
            </a:r>
          </a:p>
          <a:p>
            <a:pPr marL="514350" indent="-285750" algn="just">
              <a:buFont typeface="Arial" panose="020B0704020202020204" pitchFamily="34" charset="0"/>
              <a:buChar char="•"/>
            </a:pPr>
            <a:endParaRPr lang="en-US" altLang="en-US" sz="16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285750" algn="just">
              <a:buFont typeface="Arial" panose="020B0704020202020204" pitchFamily="34" charset="0"/>
              <a:buChar char="•"/>
            </a:pPr>
            <a:r>
              <a:rPr lang="en-US" altLang="en-US" sz="1600" dirty="0">
                <a:latin typeface="Times New Roman Regular" panose="02020603050405020304" charset="0"/>
                <a:cs typeface="Times New Roman Regular" panose="02020603050405020304" charset="0"/>
              </a:rPr>
              <a:t>AI predicts Eligible, Nearly Eligible, Can Become Eligible, and Not Eligible companies while identifying skill gaps.</a:t>
            </a:r>
          </a:p>
          <a:p>
            <a:pPr marL="514350" indent="-285750" algn="just">
              <a:buFont typeface="Arial" panose="020B0704020202020204" pitchFamily="34" charset="0"/>
              <a:buChar char="•"/>
            </a:pPr>
            <a:endParaRPr lang="en-US" altLang="en-US" sz="16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285750" algn="just">
              <a:buFont typeface="Arial" panose="020B0704020202020204" pitchFamily="34" charset="0"/>
              <a:buChar char="•"/>
            </a:pPr>
            <a:r>
              <a:rPr lang="en-US" altLang="en-US" sz="1600" dirty="0">
                <a:latin typeface="Times New Roman Regular" panose="02020603050405020304" charset="0"/>
                <a:cs typeface="Times New Roman Regular" panose="02020603050405020304" charset="0"/>
              </a:rPr>
              <a:t>Provides Company Match Score, Placement Readiness, Salary Prediction, Interview Readiness, and personalized roadmaps.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8365490" y="4799612"/>
            <a:ext cx="27813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2D53-1E7C-6D92-2CD7-AFA3B808A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A7734A-ADA2-D0E4-647A-9D961C80E5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6B860-E732-8C94-42C3-E567EB888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Introduction points"/>
          <p:cNvSpPr txBox="1"/>
          <p:nvPr/>
        </p:nvSpPr>
        <p:spPr>
          <a:xfrm>
            <a:off x="520000" y="900000"/>
            <a:ext cx="5050000" cy="3600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85750" indent="-285750" algn="just">
              <a:spcAft>
                <a:spcPts val="900"/>
              </a:spcAft>
              <a:buFont typeface="Arial" panose="020B0704020202020204" pitchFamily="34" charset="0"/>
              <a:buChar char="•"/>
            </a:pPr>
            <a:r>
              <a:rPr lang="en-US" altLang="en-US" sz="15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Campus placement is the most important milestone for engineering students, but drive details reach them through portals, spreadsheets, e-mail and WhatsApp groups.</a:t>
            </a:r>
          </a:p>
          <a:p>
            <a:pPr marL="285750" indent="-285750" algn="just">
              <a:spcAft>
                <a:spcPts val="900"/>
              </a:spcAft>
              <a:buFont typeface="Arial" panose="020B0704020202020204" pitchFamily="34" charset="0"/>
              <a:buChar char="•"/>
            </a:pPr>
            <a:r>
              <a:rPr lang="en-US" altLang="en-US" sz="15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Students rarely know which companies they are eligible for, why they fall short, or which skill to improve first.</a:t>
            </a:r>
          </a:p>
          <a:p>
            <a:pPr marL="285750" indent="-285750" algn="just">
              <a:spcAft>
                <a:spcPts val="900"/>
              </a:spcAft>
              <a:buFont typeface="Arial" panose="020B0704020202020204" pitchFamily="34" charset="0"/>
              <a:buChar char="•"/>
            </a:pPr>
            <a:r>
              <a:rPr lang="en-US" altLang="en-US" sz="15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PlacementIQ Enterprise is an AI-powered placement platform: each college onboards its own students, posts drives and monitors readiness by year, branch and section.</a:t>
            </a:r>
          </a:p>
          <a:p>
            <a:pPr marL="285750" indent="-285750" algn="just">
              <a:spcAft>
                <a:spcPts val="900"/>
              </a:spcAft>
              <a:buFont typeface="Arial" panose="020B0704020202020204" pitchFamily="34" charset="0"/>
              <a:buChar char="•"/>
            </a:pPr>
            <a:r>
              <a:rPr lang="en-US" altLang="en-US" sz="15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For every student and company it gives an explainable category (Eligible, Nearly Eligible, Can Become Eligible, Not Eligible) with the exact gaps and a personalised plan.</a:t>
            </a:r>
          </a:p>
        </p:txBody>
      </p:sp>
      <p:sp>
        <p:nvSpPr>
          <p:cNvPr id="7" name="Stat recruiters scored"/>
          <p:cNvSpPr/>
          <p:nvPr/>
        </p:nvSpPr>
        <p:spPr>
          <a:xfrm>
            <a:off x="5850000" y="950000"/>
            <a:ext cx="2350000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" rIns="91440" tIns="73152" bIns="45720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altLang="en-US" sz="24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66  </a:t>
            </a: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recruiters scored</a:t>
            </a:r>
          </a:p>
        </p:txBody>
      </p:sp>
      <p:sp>
        <p:nvSpPr>
          <p:cNvPr id="8" name="Stat eligibility categories"/>
          <p:cNvSpPr/>
          <p:nvPr/>
        </p:nvSpPr>
        <p:spPr>
          <a:xfrm>
            <a:off x="5850000" y="1710000"/>
            <a:ext cx="2350000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" rIns="91440" tIns="73152" bIns="45720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altLang="en-US" sz="24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4  </a:t>
            </a: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eligibility categories</a:t>
            </a:r>
          </a:p>
        </p:txBody>
      </p:sp>
      <p:sp>
        <p:nvSpPr>
          <p:cNvPr id="9" name="Stat user roles"/>
          <p:cNvSpPr/>
          <p:nvPr/>
        </p:nvSpPr>
        <p:spPr>
          <a:xfrm>
            <a:off x="5850000" y="2470000"/>
            <a:ext cx="2350000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" rIns="91440" tIns="73152" bIns="45720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altLang="en-US" sz="24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4  </a:t>
            </a: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user roles</a:t>
            </a:r>
          </a:p>
        </p:txBody>
      </p:sp>
      <p:sp>
        <p:nvSpPr>
          <p:cNvPr id="10" name="Stat skill areas tracked"/>
          <p:cNvSpPr/>
          <p:nvPr/>
        </p:nvSpPr>
        <p:spPr>
          <a:xfrm>
            <a:off x="5850000" y="3230000"/>
            <a:ext cx="2350000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" rIns="91440" tIns="73152" bIns="45720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altLang="en-US" sz="24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8  </a:t>
            </a: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skill areas tracked</a:t>
            </a:r>
          </a:p>
        </p:txBody>
      </p:sp>
    </p:spTree>
    <p:extLst>
      <p:ext uri="{BB962C8B-B14F-4D97-AF65-F5344CB8AC3E}">
        <p14:creationId xmlns:p14="http://schemas.microsoft.com/office/powerpoint/2010/main" val="197580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778" y="28813"/>
            <a:ext cx="7882572" cy="861695"/>
          </a:xfrm>
        </p:spPr>
        <p:txBody>
          <a:bodyPr/>
          <a:lstStyle/>
          <a:p>
            <a:pPr algn="ctr"/>
            <a:b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</a:br>
            <a:r>
              <a:rPr 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64465" y="1252855"/>
            <a:ext cx="4739005" cy="3057525"/>
          </a:xfrm>
        </p:spPr>
        <p:txBody>
          <a:bodyPr wrap="square">
            <a:noAutofit/>
          </a:bodyPr>
          <a:lstStyle/>
          <a:p>
            <a:pPr marL="514350" indent="-285750" algn="just">
              <a:buFont typeface="Arial" panose="020B0704020202020204" pitchFamily="34" charset="0"/>
              <a:buChar char="•"/>
            </a:pPr>
            <a:r>
              <a:rPr lang="en-US" altLang="en-US" sz="1450" dirty="0">
                <a:latin typeface="Times New Roman Regular" panose="02020603050405020304" charset="0"/>
                <a:cs typeface="Times New Roman Regular" panose="02020603050405020304" charset="0"/>
              </a:rPr>
              <a:t>Students have limited information about campus placement opportunities, company eligibility, salary packages, and recruitment processes.</a:t>
            </a:r>
          </a:p>
          <a:p>
            <a:pPr marL="514350" indent="-285750" algn="just">
              <a:buFont typeface="Arial" panose="020B0704020202020204" pitchFamily="34" charset="0"/>
              <a:buChar char="•"/>
            </a:pPr>
            <a:endParaRPr lang="en-US" altLang="en-US" sz="145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285750" algn="just">
              <a:buFont typeface="Arial" panose="020B0704020202020204" pitchFamily="34" charset="0"/>
              <a:buChar char="•"/>
            </a:pPr>
            <a:r>
              <a:rPr lang="en-US" altLang="en-US" sz="1450" dirty="0">
                <a:latin typeface="Times New Roman Regular" panose="02020603050405020304" charset="0"/>
                <a:cs typeface="Times New Roman Regular" panose="02020603050405020304" charset="0"/>
              </a:rPr>
              <a:t>Existing systems do not evaluate individual placement readiness based on academics, skills, projects, internships, and coding profiles.</a:t>
            </a:r>
          </a:p>
          <a:p>
            <a:pPr marL="514350" indent="-285750" algn="just">
              <a:buFont typeface="Arial" panose="020B0704020202020204" pitchFamily="34" charset="0"/>
              <a:buChar char="•"/>
            </a:pPr>
            <a:endParaRPr lang="en-US" altLang="en-US" sz="145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285750" algn="just">
              <a:buFont typeface="Arial" panose="020B0704020202020204" pitchFamily="34" charset="0"/>
              <a:buChar char="•"/>
            </a:pPr>
            <a:r>
              <a:rPr lang="en-US" altLang="en-US" sz="1450" dirty="0">
                <a:latin typeface="Times New Roman Regular" panose="02020603050405020304" charset="0"/>
                <a:cs typeface="Times New Roman Regular" panose="02020603050405020304" charset="0"/>
              </a:rPr>
              <a:t>Students cannot easily identify eligible companies, skill gaps, or the improvements required to secure desired placements.</a:t>
            </a:r>
          </a:p>
          <a:p>
            <a:pPr marL="514350" indent="-285750" algn="just">
              <a:buFont typeface="Arial" panose="020B0704020202020204" pitchFamily="34" charset="0"/>
              <a:buChar char="•"/>
            </a:pPr>
            <a:endParaRPr lang="en-US" altLang="en-US" sz="145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285750" algn="just">
              <a:buFont typeface="Arial" panose="020B0704020202020204" pitchFamily="34" charset="0"/>
              <a:buChar char="•"/>
            </a:pPr>
            <a:r>
              <a:rPr lang="en-US" altLang="en-US" sz="1450" dirty="0">
                <a:latin typeface="Times New Roman Regular" panose="02020603050405020304" charset="0"/>
                <a:cs typeface="Times New Roman Regular" panose="02020603050405020304" charset="0"/>
              </a:rPr>
              <a:t>An AI-powered Placement Operating System is needed to provide company recommendations, skill-gap analysis, personalized roadmaps, alumni mentorship, and real-time placement insights.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05" y="1229360"/>
            <a:ext cx="3599180" cy="34347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67335"/>
            <a:ext cx="4466590" cy="478155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EXISTING SYSTEM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8365490" y="4799612"/>
            <a:ext cx="27813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787265" y="2764790"/>
            <a:ext cx="1863725" cy="1186180"/>
          </a:xfrm>
        </p:spPr>
        <p:txBody>
          <a:bodyPr>
            <a:noAutofit/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" y="710565"/>
            <a:ext cx="7779385" cy="4272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08000" y="196215"/>
            <a:ext cx="7880350" cy="42926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PROPOSED SYSTEM</a:t>
            </a:r>
            <a:endParaRPr lang="en-IN" sz="28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65" y="653415"/>
            <a:ext cx="7080885" cy="4445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849" y="274320"/>
            <a:ext cx="7083972" cy="1508105"/>
          </a:xfrm>
        </p:spPr>
        <p:txBody>
          <a:bodyPr/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8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endParaRPr lang="en-US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8365490" y="4799612"/>
            <a:ext cx="27813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Google Shape;85;p12">
            <a:extLst>
              <a:ext uri="{FF2B5EF4-FFF2-40B4-BE49-F238E27FC236}">
                <a16:creationId xmlns:a16="http://schemas.microsoft.com/office/drawing/2014/main" id="{66082F78-BDDB-58DE-475C-E3163025E23E}"/>
              </a:ext>
            </a:extLst>
          </p:cNvPr>
          <p:cNvSpPr/>
          <p:nvPr/>
        </p:nvSpPr>
        <p:spPr>
          <a:xfrm>
            <a:off x="3415004" y="3219941"/>
            <a:ext cx="45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8" name="Google Shape;87;p12">
            <a:extLst>
              <a:ext uri="{FF2B5EF4-FFF2-40B4-BE49-F238E27FC236}">
                <a16:creationId xmlns:a16="http://schemas.microsoft.com/office/drawing/2014/main" id="{4C8C1198-CB70-206A-2514-443A678654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1239048"/>
              </p:ext>
            </p:extLst>
          </p:nvPr>
        </p:nvGraphicFramePr>
        <p:xfrm>
          <a:off x="344658" y="900000"/>
          <a:ext cx="8215532" cy="296530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5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904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sz="14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b="1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</a:t>
                      </a:r>
                      <a:endParaRPr sz="1400" u="none" strike="noStrike" cap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b="1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sz="1400" b="1" u="none" strike="noStrike" cap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b="1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sz="1400" u="none" strike="noStrike" cap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b="1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sz="1400" u="none" strike="noStrike" cap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b="1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sz="1400" u="none" strike="noStrike" cap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sz="14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2025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IEEE (ICISS)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F. B. Kunwar et al.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Enhanced Student Placement Prediction and Skill Recommendation System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CNN-BiLSTM with attention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Predicts placement and recommends skills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Black-box model; no per-company reason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2024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ACM Computing Surveys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Y. Mashayekhi et al.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A Challenge-based Survey of E-recruitment Recommendation Systems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Survey of job and candidate recommenders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Maps open challenges: sparsity, fairness, explainability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Recruiter-centric; no student guidance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2023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Springer (IJAIED)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A. José-García et al.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C3-IoC: A Career Guidance System for Assessing Student Skills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ML skill similarity + job-role network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Links student skills to IT job roles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Not tied to campus drives or eligibility rules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2023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IEEE (CSITSS)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M. S. A. Basha et al.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Unraveling Campus Placement Success with Predictive ML Models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EDA + supervised classifiers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Shows academic factors predict placement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Only placed or not placed; no improvement plan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2023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IEEE (UBMK)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S. Tanberk et al.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Resume Matching Framework via Ranking and Sorting Using NLP and Deep Learning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NLP + BERT resume ranking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Semantic resume and JD matching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Ranks for recruiters; no feedback to students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2021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IEEE Access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R. Alamri, B. Alharbi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Explainable Student Performance Prediction Models: A Systematic Review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Systematic literature review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Catalogues explainability techniques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9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Few deployed explainable models found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E247-7D27-34BC-1A9A-1E14FCA93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00" y="210000"/>
            <a:ext cx="580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1900" b="1" dirty="0">
                <a:latin typeface="Times New Roman Bold" panose="02020603050405020304" charset="0"/>
                <a:cs typeface="Times New Roman Bold" panose="02020603050405020304" charset="0"/>
              </a:rPr>
              <a:t>SOFTWARE AND HARDWARE REQUIREMENTS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A73F4-DF47-2AD8-CBD8-B65D22B815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28005-0AC8-0EA5-B8F9-61ACB41631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Software requirements"/>
          <p:cNvSpPr/>
          <p:nvPr/>
        </p:nvSpPr>
        <p:spPr>
          <a:xfrm>
            <a:off x="520000" y="950000"/>
            <a:ext cx="4000000" cy="3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500" b="1" dirty="0">
                <a:solidFill>
                  <a:srgbClr val="0B3D91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Software Requirements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Frontend: React 18, TypeScript, Vite 5, Tailwind CSS, Recharts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Backend: Supabase (PostgreSQL, Auth, Storage, row-level security)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Serverless API: Vercel Edge Functions (Node.js runtime)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AI: Groq LLM API (gpt-oss-120b, fallback gpt-oss-20b)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Parsing: pdf.js (PDF) and mammoth (DOCX) resumes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Integrations: GitHub, LeetCode, Codeforces, CodeChef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Tools: VS Code, Git and GitHub, Node.js 20+, npm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Client: latest Chrome, Edge, Firefox or Safari</a:t>
            </a:r>
          </a:p>
        </p:txBody>
      </p:sp>
      <p:sp>
        <p:nvSpPr>
          <p:cNvPr id="7" name="Hardware requirements"/>
          <p:cNvSpPr/>
          <p:nvPr/>
        </p:nvSpPr>
        <p:spPr>
          <a:xfrm>
            <a:off x="4700000" y="950000"/>
            <a:ext cx="3500000" cy="3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5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Hardware Requirements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Developer PC: Intel i5 / AMD Ryzen 5 / Apple M1 or better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RAM: 8 GB minimum (16 GB recommended)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Storage: 10 GB free (SSD preferred)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Internet: stable broadband for cloud services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End users: any laptop or phone with a modern browser (4 GB RAM, 360 px+ screen)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3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Server: none on premises; fully managed cloud (Supabase + Vercel)</a:t>
            </a:r>
          </a:p>
        </p:txBody>
      </p:sp>
    </p:spTree>
    <p:extLst>
      <p:ext uri="{BB962C8B-B14F-4D97-AF65-F5344CB8AC3E}">
        <p14:creationId xmlns:p14="http://schemas.microsoft.com/office/powerpoint/2010/main" val="511107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20CFB-44FF-1E17-4EE8-6C0D2D863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MODULES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6009D-514F-BC27-3B02-5CBD5D50B5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0E74E-2412-880A-35F5-10EBD29699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Student Module"/>
          <p:cNvSpPr/>
          <p:nvPr/>
        </p:nvSpPr>
        <p:spPr>
          <a:xfrm>
            <a:off x="520000" y="950000"/>
            <a:ext cx="19000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rgbClr val="0B3D91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Student Module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Profile, resume and coding links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Eligibility stacks for 66 companies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Skill gaps, roadmap, practice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What-If simulator, AI assistant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Apply to campus drives</a:t>
            </a:r>
          </a:p>
        </p:txBody>
      </p:sp>
      <p:sp>
        <p:nvSpPr>
          <p:cNvPr id="7" name="Placement Cell Module"/>
          <p:cNvSpPr/>
          <p:nvPr/>
        </p:nvSpPr>
        <p:spPr>
          <a:xfrm>
            <a:off x="2540000" y="950000"/>
            <a:ext cx="19000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Placement Cell Module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Roster upload with sections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Year / branch / section monitoring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Student rankings and filters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Post drives, manage applicants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Add recruiters, view feedback</a:t>
            </a:r>
          </a:p>
        </p:txBody>
      </p:sp>
      <p:sp>
        <p:nvSpPr>
          <p:cNvPr id="8" name="Recruiter Module"/>
          <p:cNvSpPr/>
          <p:nvPr/>
        </p:nvSpPr>
        <p:spPr>
          <a:xfrm>
            <a:off x="4560000" y="950000"/>
            <a:ext cx="19000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rgbClr val="0B3D91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Recruiter Module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Post drives for own company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Ranked applicants with match %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Full profiles of applicants only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Shortlist, interview, offer</a:t>
            </a:r>
          </a:p>
        </p:txBody>
      </p:sp>
      <p:sp>
        <p:nvSpPr>
          <p:cNvPr id="9" name="Platform Admin Module"/>
          <p:cNvSpPr/>
          <p:nvPr/>
        </p:nvSpPr>
        <p:spPr>
          <a:xfrm>
            <a:off x="6580000" y="950000"/>
            <a:ext cx="1900000" cy="2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Platform Admin Module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Create colleges and logins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Plans, seats and pricing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Usage, storage and AI cost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Profit and margin view</a:t>
            </a:r>
          </a:p>
        </p:txBody>
      </p:sp>
      <p:sp>
        <p:nvSpPr>
          <p:cNvPr id="10" name="Core engines"/>
          <p:cNvSpPr txBox="1"/>
          <p:nvPr/>
        </p:nvSpPr>
        <p:spPr>
          <a:xfrm>
            <a:off x="520000" y="3620000"/>
            <a:ext cx="7500000" cy="7000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altLang="en-US" sz="1200" b="1" dirty="0">
                <a:latin typeface="Times New Roman Bold" panose="02020603050405020304" charset="0"/>
                <a:cs typeface="Times New Roman Bold" panose="02020603050405020304" charset="0"/>
              </a:rPr>
              <a:t xml:space="preserve">Core engines: </a:t>
            </a:r>
            <a:r>
              <a:rPr lang="en-US" altLang="en-US" sz="12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Eligibility Engine  |  Prediction Layer (readiness, expected CTC, interview readiness)  |  Resume and JD Analyzer (LLM)  |  Access Control (row-level security)</a:t>
            </a:r>
          </a:p>
        </p:txBody>
      </p:sp>
    </p:spTree>
    <p:extLst>
      <p:ext uri="{BB962C8B-B14F-4D97-AF65-F5344CB8AC3E}">
        <p14:creationId xmlns:p14="http://schemas.microsoft.com/office/powerpoint/2010/main" val="127676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BE29-6A7E-FCE9-6435-28AE90C63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SYSTEM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E0E45-0029-2BAE-A983-606E3D691E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C1C24-E7DA-BD4C-2A99-6FA4D23C4F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0000" y="4799612"/>
            <a:ext cx="48000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6" name="System architecture diagram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880000"/>
            <a:ext cx="7900000" cy="34562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  <p:extLst>
      <p:ext uri="{BB962C8B-B14F-4D97-AF65-F5344CB8AC3E}">
        <p14:creationId xmlns:p14="http://schemas.microsoft.com/office/powerpoint/2010/main" val="146029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E3D4-D813-0F16-2B30-E84240A2A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200" b="1" dirty="0">
                <a:latin typeface="Times New Roman Bold" panose="02020603050405020304" charset="0"/>
                <a:cs typeface="Times New Roman Bold" panose="02020603050405020304" charset="0"/>
              </a:rPr>
              <a:t>IMPLEMENTATION / METHODOLOGY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CEF1A-15A7-B2B8-3F02-BE8F7B9934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DE199-0EBE-F25B-BE18-BE24802CC2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0000" y="4799612"/>
            <a:ext cx="48000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1. College Onboarding"/>
          <p:cNvSpPr/>
          <p:nvPr/>
        </p:nvSpPr>
        <p:spPr>
          <a:xfrm>
            <a:off x="560000" y="950000"/>
            <a:ext cx="243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450" b="1" dirty="0">
                <a:solidFill>
                  <a:srgbClr val="0B3D91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1. College Onboarding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25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Platform admin creates the college; placement cell uploads the roster (e-mail, roll no., branch, year, section).</a:t>
            </a:r>
          </a:p>
        </p:txBody>
      </p:sp>
      <p:sp>
        <p:nvSpPr>
          <p:cNvPr id="7" name="Flow arrow"/>
          <p:cNvSpPr/>
          <p:nvPr/>
        </p:nvSpPr>
        <p:spPr>
          <a:xfrm>
            <a:off x="3040000" y="1585000"/>
            <a:ext cx="200000" cy="18000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2. Student Onboarding"/>
          <p:cNvSpPr/>
          <p:nvPr/>
        </p:nvSpPr>
        <p:spPr>
          <a:xfrm>
            <a:off x="3290000" y="950000"/>
            <a:ext cx="243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45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2. Student Onboarding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25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Rostered students sign up, complete profile, upload resume and link coding profiles.</a:t>
            </a:r>
          </a:p>
        </p:txBody>
      </p:sp>
      <p:sp>
        <p:nvSpPr>
          <p:cNvPr id="9" name="Flow arrow"/>
          <p:cNvSpPr/>
          <p:nvPr/>
        </p:nvSpPr>
        <p:spPr>
          <a:xfrm>
            <a:off x="5770000" y="1585000"/>
            <a:ext cx="200000" cy="18000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3. Data Processing"/>
          <p:cNvSpPr/>
          <p:nvPr/>
        </p:nvSpPr>
        <p:spPr>
          <a:xfrm>
            <a:off x="6020000" y="950000"/>
            <a:ext cx="243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450" b="1" dirty="0">
                <a:solidFill>
                  <a:srgbClr val="0B3D91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3. Data Processing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25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Resume parsed and scored (6 ATS checks via LLM); GitHub, LeetCode, Codeforces, CodeChef synced.</a:t>
            </a:r>
          </a:p>
        </p:txBody>
      </p:sp>
      <p:sp>
        <p:nvSpPr>
          <p:cNvPr id="11" name="4. Eligibility Engine"/>
          <p:cNvSpPr/>
          <p:nvPr/>
        </p:nvSpPr>
        <p:spPr>
          <a:xfrm>
            <a:off x="6020000" y="2700000"/>
            <a:ext cx="243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45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4. Eligibility Engine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25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Profile scored against 66 recruiters and college drives; 4 categories with exact gaps.</a:t>
            </a:r>
          </a:p>
        </p:txBody>
      </p:sp>
      <p:sp>
        <p:nvSpPr>
          <p:cNvPr id="12" name="Flow arrow"/>
          <p:cNvSpPr/>
          <p:nvPr/>
        </p:nvSpPr>
        <p:spPr>
          <a:xfrm rot="10800000">
            <a:off x="3040000" y="3335000"/>
            <a:ext cx="200000" cy="18000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. Predictions &amp; Guidance"/>
          <p:cNvSpPr/>
          <p:nvPr/>
        </p:nvSpPr>
        <p:spPr>
          <a:xfrm>
            <a:off x="3290000" y="2700000"/>
            <a:ext cx="243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450" b="1" dirty="0">
                <a:solidFill>
                  <a:srgbClr val="0B3D91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5. Predictions &amp; Guidance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25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Readiness, expected CTC, interview readiness, What-If, roadmap and AI assistant.</a:t>
            </a:r>
          </a:p>
        </p:txBody>
      </p:sp>
      <p:sp>
        <p:nvSpPr>
          <p:cNvPr id="14" name="Flow arrow"/>
          <p:cNvSpPr/>
          <p:nvPr/>
        </p:nvSpPr>
        <p:spPr>
          <a:xfrm rot="10800000">
            <a:off x="5770000" y="3335000"/>
            <a:ext cx="200000" cy="18000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6. Placement Actions"/>
          <p:cNvSpPr/>
          <p:nvPr/>
        </p:nvSpPr>
        <p:spPr>
          <a:xfrm>
            <a:off x="560000" y="2700000"/>
            <a:ext cx="243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45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6. Placement Actions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25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Cell posts drives, ranks students, monitors classes; recruiters shortlist; feedback loop.</a:t>
            </a:r>
          </a:p>
        </p:txBody>
      </p:sp>
      <p:sp>
        <p:nvSpPr>
          <p:cNvPr id="16" name="Flow arrow down"/>
          <p:cNvSpPr/>
          <p:nvPr/>
        </p:nvSpPr>
        <p:spPr>
          <a:xfrm>
            <a:off x="7145000" y="2450000"/>
            <a:ext cx="180000" cy="200000"/>
          </a:xfrm>
          <a:prstGeom prst="down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91922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E7465-FCB9-B82C-C81E-89FC1A093E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D7EE0-B0DB-E72A-3934-2080C73783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0000" y="4799612"/>
            <a:ext cx="48000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26B0C7-013D-9DE5-6080-ABB7C550E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200" b="1" dirty="0">
                <a:latin typeface="Times New Roman Bold" panose="02020603050405020304" charset="0"/>
                <a:cs typeface="Times New Roman Bold" panose="02020603050405020304" charset="0"/>
              </a:rPr>
              <a:t>ALGORITHM / METHODOLOGY</a:t>
            </a:r>
          </a:p>
        </p:txBody>
      </p:sp>
      <p:sp>
        <p:nvSpPr>
          <p:cNvPr id="7" name="Algorithm steps"/>
          <p:cNvSpPr txBox="1"/>
          <p:nvPr/>
        </p:nvSpPr>
        <p:spPr>
          <a:xfrm>
            <a:off x="520000" y="900000"/>
            <a:ext cx="4550000" cy="3700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342900" indent="-342900" algn="just">
              <a:spcAft>
                <a:spcPts val="500"/>
              </a:spcAft>
              <a:buFont typeface="+mj-lt"/>
              <a:buAutoNum type="arabicPeriod"/>
            </a:pPr>
            <a:r>
              <a:rPr lang="en-US" altLang="en-US" sz="125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Input: CGPA, backlogs, Class X/XII %, 8 skill levels, projects, internships, resume and coding statistics.</a:t>
            </a:r>
          </a:p>
          <a:p>
            <a:pPr marL="342900" indent="-342900" algn="just">
              <a:spcAft>
                <a:spcPts val="500"/>
              </a:spcAft>
              <a:buFont typeface="+mj-lt"/>
              <a:buAutoNum type="arabicPeriod"/>
            </a:pPr>
            <a:r>
              <a:rPr lang="en-US" altLang="en-US" sz="125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Compute academic score A, skill score S (every point below a required level costs 1.2), experience E and projects P.</a:t>
            </a:r>
          </a:p>
          <a:p>
            <a:pPr marL="342900" indent="-342900" algn="just">
              <a:spcAft>
                <a:spcPts val="500"/>
              </a:spcAft>
              <a:buFont typeface="+mj-lt"/>
              <a:buAutoNum type="arabicPeriod"/>
            </a:pPr>
            <a:r>
              <a:rPr lang="en-US" altLang="en-US" sz="125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Match score M = 0.15A + 0.60S + 0.10E + 0.15P for each of the 66 companies.</a:t>
            </a:r>
          </a:p>
          <a:p>
            <a:pPr marL="342900" indent="-342900" algn="just">
              <a:spcAft>
                <a:spcPts val="500"/>
              </a:spcAft>
              <a:buFont typeface="+mj-lt"/>
              <a:buAutoNum type="arabicPeriod"/>
            </a:pPr>
            <a:r>
              <a:rPr lang="en-US" altLang="en-US" sz="125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Assign category: Eligible (M ≥ 88, largest gap ≤ 5), Nearly (M ≥ 75, gap ≤ 15), Can Become (M ≥ 55 or near academic cut-off), else Not Eligible.</a:t>
            </a:r>
          </a:p>
          <a:p>
            <a:pPr marL="342900" indent="-342900" algn="just">
              <a:spcAft>
                <a:spcPts val="500"/>
              </a:spcAft>
              <a:buFont typeface="+mj-lt"/>
              <a:buAutoNum type="arabicPeriod"/>
            </a:pPr>
            <a:r>
              <a:rPr lang="en-US" altLang="en-US" sz="125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Explain every decision with unmet criteria and gaps; compute readiness, expected CTC and interview readiness.</a:t>
            </a:r>
          </a:p>
          <a:p>
            <a:pPr marL="342900" indent="-342900" algn="just">
              <a:spcAft>
                <a:spcPts val="500"/>
              </a:spcAft>
              <a:buFont typeface="+mj-lt"/>
              <a:buAutoNum type="arabicPeriod"/>
            </a:pPr>
            <a:r>
              <a:rPr lang="en-US" altLang="en-US" sz="125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What-If: re-run the same steps on a modified profile and show which companies move up.</a:t>
            </a:r>
          </a:p>
        </p:txBody>
      </p:sp>
      <p:sp>
        <p:nvSpPr>
          <p:cNvPr id="8" name="Key formulas"/>
          <p:cNvSpPr/>
          <p:nvPr/>
        </p:nvSpPr>
        <p:spPr>
          <a:xfrm>
            <a:off x="5250000" y="950000"/>
            <a:ext cx="3050000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Key Formulas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A = 25 [min(1, g/g*) + min(1, X/X*) + min(1, XII/XII*) + b]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S = 100 − 1.2 Σ max(0, req − level)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M = 0.15A + 0.60S + 0.10E + 0.15P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Readiness = mean M over target companies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Expected CTC = Σ w·CTC / Σ w,  w = category weight × M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Interview = 0.3 DSA + 0.15 Apt + 0.15 SD + 0.2 Mock + 0.1 Resume + 0.1 Exp</a:t>
            </a:r>
          </a:p>
        </p:txBody>
      </p:sp>
    </p:spTree>
    <p:extLst>
      <p:ext uri="{BB962C8B-B14F-4D97-AF65-F5344CB8AC3E}">
        <p14:creationId xmlns:p14="http://schemas.microsoft.com/office/powerpoint/2010/main" val="2628318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158A-54EC-0F89-A4C7-2F40B0AAF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200" b="1" dirty="0">
                <a:latin typeface="Times New Roman Bold" panose="02020603050405020304" charset="0"/>
                <a:cs typeface="Times New Roman Bold" panose="02020603050405020304" charset="0"/>
              </a:rPr>
              <a:t>IMPLEMENTATION &amp; SCREENSHOTS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E6C00-D3BF-16F9-D571-87946349EB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8A566-7156-6D35-7754-1E1DC0835F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0000" y="4799612"/>
            <a:ext cx="48000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6" name="Student dashboard" descr="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000" y="830000"/>
            <a:ext cx="2760000" cy="15525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Caption Student dashboard"/>
          <p:cNvSpPr txBox="1"/>
          <p:nvPr/>
        </p:nvSpPr>
        <p:spPr>
          <a:xfrm>
            <a:off x="1610000" y="2387500"/>
            <a:ext cx="2760000" cy="230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altLang="en-US" sz="10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Student dashboard</a:t>
            </a:r>
          </a:p>
        </p:txBody>
      </p:sp>
      <p:pic>
        <p:nvPicPr>
          <p:cNvPr id="8" name="Eligibility stacks + company panel" descr="company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000" y="830000"/>
            <a:ext cx="2760000" cy="15525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Caption Eligibility stacks + company panel"/>
          <p:cNvSpPr txBox="1"/>
          <p:nvPr/>
        </p:nvSpPr>
        <p:spPr>
          <a:xfrm>
            <a:off x="4770000" y="2387500"/>
            <a:ext cx="2760000" cy="230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altLang="en-US" sz="10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Eligibility stacks + company panel</a:t>
            </a:r>
          </a:p>
        </p:txBody>
      </p:sp>
      <p:pic>
        <p:nvPicPr>
          <p:cNvPr id="10" name="Placement cell: ranked students" descr="admin-stud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000" y="2752500"/>
            <a:ext cx="2760000" cy="15525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Caption Placement cell: ranked students"/>
          <p:cNvSpPr txBox="1"/>
          <p:nvPr/>
        </p:nvSpPr>
        <p:spPr>
          <a:xfrm>
            <a:off x="1610000" y="4310000"/>
            <a:ext cx="2760000" cy="230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altLang="en-US" sz="10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Placement cell: ranked students</a:t>
            </a:r>
          </a:p>
        </p:txBody>
      </p:sp>
      <p:pic>
        <p:nvPicPr>
          <p:cNvPr id="12" name="Platform admin: colleges and usage" descr="super-orgs-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000" y="2752500"/>
            <a:ext cx="2760000" cy="15525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" name="Caption Platform admin: colleges and usage"/>
          <p:cNvSpPr txBox="1"/>
          <p:nvPr/>
        </p:nvSpPr>
        <p:spPr>
          <a:xfrm>
            <a:off x="4770000" y="4310000"/>
            <a:ext cx="2760000" cy="230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altLang="en-US" sz="10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Platform admin: colleges and usage</a:t>
            </a:r>
          </a:p>
        </p:txBody>
      </p:sp>
    </p:spTree>
    <p:extLst>
      <p:ext uri="{BB962C8B-B14F-4D97-AF65-F5344CB8AC3E}">
        <p14:creationId xmlns:p14="http://schemas.microsoft.com/office/powerpoint/2010/main" val="1141009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F996-D8F1-7B19-CC4D-40D33425B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RESULTS / OUTPUT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773A4-B76C-6036-20D9-D163E89300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63E5C-1A0B-F462-5952-6A4569598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0000" y="4799612"/>
            <a:ext cx="48000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Cut-off vs proposed chart"/>
          <p:cNvGraphicFramePr>
            <a:graphicFrameLocks noGrp="1"/>
          </p:cNvGraphicFramePr>
          <p:nvPr/>
        </p:nvGraphicFramePr>
        <p:xfrm>
          <a:off x="480000" y="880000"/>
          <a:ext cx="4700000" cy="35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sult to score one student against all 66 companies"/>
          <p:cNvSpPr/>
          <p:nvPr/>
        </p:nvSpPr>
        <p:spPr>
          <a:xfrm>
            <a:off x="5400000" y="900000"/>
            <a:ext cx="2900000" cy="6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" rIns="91440" tIns="73152" bIns="45720"/>
          <a:lstStyle/>
          <a:p>
            <a:pPr marL="0" indent="0" algn="l">
              <a:spcAft>
                <a:spcPts val="0"/>
              </a:spcAft>
              <a:buNone/>
            </a:pPr>
            <a:r>
              <a:rPr lang="en-US" altLang="en-US" sz="2000" b="1" dirty="0">
                <a:solidFill>
                  <a:srgbClr val="0B3D91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0.18 ms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to score one student against all 66 companies</a:t>
            </a:r>
          </a:p>
        </p:txBody>
      </p:sp>
      <p:sp>
        <p:nvSpPr>
          <p:cNvPr id="8" name="Result of 629,068 non-eligible decisions explained"/>
          <p:cNvSpPr/>
          <p:nvPr/>
        </p:nvSpPr>
        <p:spPr>
          <a:xfrm>
            <a:off x="5400000" y="1680000"/>
            <a:ext cx="2900000" cy="6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" rIns="91440" tIns="73152" bIns="45720"/>
          <a:lstStyle/>
          <a:p>
            <a:pPr marL="0" indent="0" algn="l">
              <a:spcAft>
                <a:spcPts val="0"/>
              </a:spcAft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100%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of 629,068 non-eligible decisions explained</a:t>
            </a:r>
          </a:p>
        </p:txBody>
      </p:sp>
      <p:sp>
        <p:nvSpPr>
          <p:cNvPr id="9" name="Result monotonicity violations in 594,000 checks"/>
          <p:cNvSpPr/>
          <p:nvPr/>
        </p:nvSpPr>
        <p:spPr>
          <a:xfrm>
            <a:off x="5400000" y="2460000"/>
            <a:ext cx="2900000" cy="6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" rIns="91440" tIns="73152" bIns="45720"/>
          <a:lstStyle/>
          <a:p>
            <a:pPr marL="0" indent="0" algn="l">
              <a:spcAft>
                <a:spcPts val="0"/>
              </a:spcAft>
              <a:buNone/>
            </a:pPr>
            <a:r>
              <a:rPr lang="en-US" altLang="en-US" sz="2000" b="1" dirty="0">
                <a:solidFill>
                  <a:srgbClr val="0B3D91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0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monotonicity violations in 594,000 checks</a:t>
            </a:r>
          </a:p>
        </p:txBody>
      </p:sp>
      <p:sp>
        <p:nvSpPr>
          <p:cNvPr id="10" name="Result access-control tests passed on the live database"/>
          <p:cNvSpPr/>
          <p:nvPr/>
        </p:nvSpPr>
        <p:spPr>
          <a:xfrm>
            <a:off x="5400000" y="3240000"/>
            <a:ext cx="2900000" cy="6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" rIns="91440" tIns="73152" bIns="45720"/>
          <a:lstStyle/>
          <a:p>
            <a:pPr marL="0" indent="0" algn="l">
              <a:spcAft>
                <a:spcPts val="0"/>
              </a:spcAft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19 / 19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altLang="en-US" sz="11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access-control tests passed on the live database</a:t>
            </a:r>
          </a:p>
        </p:txBody>
      </p:sp>
    </p:spTree>
    <p:extLst>
      <p:ext uri="{BB962C8B-B14F-4D97-AF65-F5344CB8AC3E}">
        <p14:creationId xmlns:p14="http://schemas.microsoft.com/office/powerpoint/2010/main" val="1878294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070E-F1F2-42A0-1D8C-B9159AE8A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TESTING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BE1F2-0BE4-220B-0244-3A66DEE9C2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26DF5-E385-CEE7-84B5-3F150A29EC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0000" y="4799612"/>
            <a:ext cx="48000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903" name="Test cases"/>
          <p:cNvGraphicFramePr>
            <a:graphicFrameLocks noGrp="1"/>
          </p:cNvGraphicFramePr>
          <p:nvPr/>
        </p:nvGraphicFramePr>
        <p:xfrm>
          <a:off x="560000" y="880000"/>
          <a:ext cx="7300000" cy="33000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380000"/>
                <a:gridCol w="2650000"/>
                <a:gridCol w="1150000"/>
                <a:gridCol w="2500000"/>
                <a:gridCol w="620000"/>
              </a:tblGrid>
              <a:tr h="3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1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ID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1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Test Case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1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Type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1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Expected / Observed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1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Result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T1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Sign-up with an unregistered e-mail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Security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Account creation rejected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Pass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T2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Student sign-up with wrong roll number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Security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Rejected with clear message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Pass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T3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Placement cell reads another college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Security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Only own college visible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Pass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T4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Recruiter posts for another company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Security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Blocked by database policy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Pass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T5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AI use beyond plan quota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Functional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Action refused after limit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Pass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T6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Reason for every non-eligible result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Unit / property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629,068 of 629,068 explained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Pass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T7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Improving a skill never lowers a score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Property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0 violations in 594,000 checks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Pass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T8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Scoring speed per student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Performance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&lt; 1 ms (measured 0.18 ms)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Pass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T9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Role routing, What-If, filters on desktop and mobile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Functional (UI)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Correct pages and results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0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 xml:space="preserve">Pass</a:t>
                      </a:r>
                    </a:p>
                  </a:txBody>
                  <a:tcPr marL="54864" marR="54864" marT="36576" marB="36576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4" name="Testing note"/>
          <p:cNvSpPr txBox="1"/>
          <p:nvPr/>
        </p:nvSpPr>
        <p:spPr>
          <a:xfrm>
            <a:off x="560000" y="4230000"/>
            <a:ext cx="7300000" cy="280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altLang="en-US" sz="10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Security tests T1-T5 run against the live database inside a rolled-back transaction (19 scenarios, all passed).</a:t>
            </a:r>
          </a:p>
        </p:txBody>
      </p:sp>
    </p:spTree>
    <p:extLst>
      <p:ext uri="{BB962C8B-B14F-4D97-AF65-F5344CB8AC3E}">
        <p14:creationId xmlns:p14="http://schemas.microsoft.com/office/powerpoint/2010/main" val="2835701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A641-E2E4-FF41-2D0B-51D8A6F66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200" b="1" dirty="0">
                <a:latin typeface="Times New Roman Bold" panose="02020603050405020304" charset="0"/>
                <a:cs typeface="Times New Roman Bold" panose="02020603050405020304" charset="0"/>
              </a:rPr>
              <a:t>CONCLUSION &amp; FUTURE SCOPE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A7ABC-5F17-8125-3F62-2ACED562DF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0A642-9B0C-8E4E-1863-94A0A75CFA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0000" y="4799612"/>
            <a:ext cx="48000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clusion"/>
          <p:cNvSpPr/>
          <p:nvPr/>
        </p:nvSpPr>
        <p:spPr>
          <a:xfrm>
            <a:off x="520000" y="950000"/>
            <a:ext cx="3900000" cy="3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600" b="1" dirty="0">
                <a:solidFill>
                  <a:srgbClr val="0B3D91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Conclusion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PlacementIQ replaces CGPA cut-off lists and scattered messages with explainable, per-company eligibility for every student.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Scores 66 companies in 0.18 ms, explains every non-eligible decision and never penalises improvement.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Revealed that 80.3% of cut-off-eligible pairs hide a major skill gap.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Role-based access keeps every college and recruiter isolated (19/19 tests).</a:t>
            </a:r>
          </a:p>
        </p:txBody>
      </p:sp>
      <p:sp>
        <p:nvSpPr>
          <p:cNvPr id="7" name="Future scope"/>
          <p:cNvSpPr/>
          <p:nvPr/>
        </p:nvSpPr>
        <p:spPr>
          <a:xfrm>
            <a:off x="4600000" y="950000"/>
            <a:ext cx="3700000" cy="3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1440" rIns="91440" tIns="73152" bIns="4572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altLang="en-US" sz="1600" b="1" dirty="0">
                <a:solidFill>
                  <a:srgbClr val="C8102E"/>
                </a:solidFill>
                <a:latin typeface="Times New Roman Bold" panose="02020603050405020304" charset="0"/>
                <a:cs typeface="Times New Roman Bold" panose="02020603050405020304" charset="0"/>
              </a:rPr>
              <a:t xml:space="preserve">Future Scope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Pilot across all batches at Anurag University and train a learned model on real outcomes.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Interview scheduling, offer tracking and faculty mentor roles.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Mobile app, single sign-on and multi-college analytics.</a:t>
            </a:r>
          </a:p>
          <a:p>
            <a:pPr marL="285750" indent="-285750" algn="l">
              <a:spcAft>
                <a:spcPts val="200"/>
              </a:spcAft>
              <a:buFont typeface="Arial" panose="020B07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 xml:space="preserve">Scale on AWS with fairness audits and DPDP Act 2023 compliance.</a:t>
            </a:r>
          </a:p>
        </p:txBody>
      </p:sp>
    </p:spTree>
    <p:extLst>
      <p:ext uri="{BB962C8B-B14F-4D97-AF65-F5344CB8AC3E}">
        <p14:creationId xmlns:p14="http://schemas.microsoft.com/office/powerpoint/2010/main" val="3843149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E637-BFAD-B197-4AEA-570FC68FE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000" y="210000"/>
            <a:ext cx="6050000" cy="56000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REFERENCES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2140D4-8A76-7A00-939C-6024DE4BE5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75A2E-7606-BA6D-ADD4-ACFC910E6A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0000" y="4799612"/>
            <a:ext cx="480000" cy="184666"/>
          </a:xfrm>
        </p:spPr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References list"/>
          <p:cNvSpPr txBox="1"/>
          <p:nvPr/>
        </p:nvSpPr>
        <p:spPr>
          <a:xfrm>
            <a:off x="520000" y="880000"/>
            <a:ext cx="7650000" cy="3700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342900" indent="-342900" algn="l">
              <a:spcAft>
                <a:spcPts val="350"/>
              </a:spcAft>
              <a:buFont typeface="+mj-lt"/>
              <a:buAutoNum type="arabicPeriod"/>
            </a:pPr>
            <a:r>
              <a:rPr lang="en-US" altLang="en-US" sz="11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F. B. Kunwar et al., "Enhanced student placement prediction and skill recommendation system using CNN-BiLSTM with attention networks," Proc. IEEE ICISS, 2025, pp. 1450-1456.</a:t>
            </a:r>
          </a:p>
          <a:p>
            <a:pPr marL="342900" indent="-342900" algn="l">
              <a:spcAft>
                <a:spcPts val="350"/>
              </a:spcAft>
              <a:buFont typeface="+mj-lt"/>
              <a:buAutoNum type="arabicPeriod"/>
            </a:pPr>
            <a:r>
              <a:rPr lang="en-US" altLang="en-US" sz="11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Y. Mashayekhi, N. Li, B. Kang, J. Lijffijt, and T. De Bie, "A challenge-based survey of e-recruitment recommendation systems," ACM Comput. Surv., vol. 56, no. 10, 2024.</a:t>
            </a:r>
          </a:p>
          <a:p>
            <a:pPr marL="342900" indent="-342900" algn="l">
              <a:spcAft>
                <a:spcPts val="350"/>
              </a:spcAft>
              <a:buFont typeface="+mj-lt"/>
              <a:buAutoNum type="arabicPeriod"/>
            </a:pPr>
            <a:r>
              <a:rPr lang="en-US" altLang="en-US" sz="11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A. José-García et al., "C3-IoC: A career guidance system for assessing student skills using machine learning and network visualisation," Int. J. Artif. Intell. Educ., vol. 33, 2023.</a:t>
            </a:r>
          </a:p>
          <a:p>
            <a:pPr marL="342900" indent="-342900" algn="l">
              <a:spcAft>
                <a:spcPts val="350"/>
              </a:spcAft>
              <a:buFont typeface="+mj-lt"/>
              <a:buAutoNum type="arabicPeriod"/>
            </a:pPr>
            <a:r>
              <a:rPr lang="en-US" altLang="en-US" sz="11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M. S. A. Basha et al., "Unraveling campus placement success integrating exploratory insights with predictive machine learning models," Proc. IEEE CSITSS, 2023.</a:t>
            </a:r>
          </a:p>
          <a:p>
            <a:pPr marL="342900" indent="-342900" algn="l">
              <a:spcAft>
                <a:spcPts val="350"/>
              </a:spcAft>
              <a:buFont typeface="+mj-lt"/>
              <a:buAutoNum type="arabicPeriod"/>
            </a:pPr>
            <a:r>
              <a:rPr lang="en-US" altLang="en-US" sz="11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S. Tanberk et al., "Resume matching framework via ranking and sorting using NLP and deep learning," Proc. IEEE UBMK, 2023, pp. 453-458.</a:t>
            </a:r>
          </a:p>
          <a:p>
            <a:pPr marL="342900" indent="-342900" algn="l">
              <a:spcAft>
                <a:spcPts val="350"/>
              </a:spcAft>
              <a:buFont typeface="+mj-lt"/>
              <a:buAutoNum type="arabicPeriod"/>
            </a:pPr>
            <a:r>
              <a:rPr lang="en-US" altLang="en-US" sz="11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R. Alamri and B. Alharbi, "Explainable student performance prediction models: A systematic review," IEEE Access, vol. 9, pp. 33132-33143, 2021.</a:t>
            </a:r>
          </a:p>
          <a:p>
            <a:pPr marL="342900" indent="-342900" algn="l">
              <a:spcAft>
                <a:spcPts val="350"/>
              </a:spcAft>
              <a:buFont typeface="+mj-lt"/>
              <a:buAutoNum type="arabicPeriod"/>
            </a:pPr>
            <a:r>
              <a:rPr lang="en-US" altLang="en-US" sz="11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C. Qin et al., "Enhancing person-job fit for talent recruitment: An ability-aware neural network approach," Proc. ACM SIGIR, 2018, pp. 25-34.</a:t>
            </a:r>
          </a:p>
          <a:p>
            <a:pPr marL="342900" indent="-342900" algn="l">
              <a:spcAft>
                <a:spcPts val="350"/>
              </a:spcAft>
              <a:buFont typeface="+mj-lt"/>
              <a:buAutoNum type="arabicPeriod"/>
            </a:pPr>
            <a:r>
              <a:rPr lang="en-US" altLang="en-US" sz="11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R. S. Sandhu et al., "Role-based access control models," IEEE Computer, vol. 29, no. 2, pp. 38-47, 1996.</a:t>
            </a:r>
          </a:p>
          <a:p>
            <a:pPr marL="342900" indent="-342900" algn="l">
              <a:spcAft>
                <a:spcPts val="350"/>
              </a:spcAft>
              <a:buFont typeface="+mj-lt"/>
              <a:buAutoNum type="arabicPeriod"/>
            </a:pPr>
            <a:r>
              <a:rPr lang="en-US" altLang="en-US" sz="1100" dirty="0">
                <a:latin typeface="Times New Roman Regular" panose="02020603050405020304" charset="0"/>
                <a:cs typeface="Times New Roman Regular" panose="02020603050405020304" charset="0"/>
              </a:rPr>
              <a:t xml:space="preserve">OpenAI, "gpt-oss-120b &amp; gpt-oss-20b model card," arXiv:2508.10925, 2025.</a:t>
            </a:r>
          </a:p>
        </p:txBody>
      </p:sp>
    </p:spTree>
    <p:extLst>
      <p:ext uri="{BB962C8B-B14F-4D97-AF65-F5344CB8AC3E}">
        <p14:creationId xmlns:p14="http://schemas.microsoft.com/office/powerpoint/2010/main" val="3124698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B30D-724D-99E4-5C4C-89C5E0660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0486" y="1969477"/>
            <a:ext cx="4607169" cy="856114"/>
          </a:xfrm>
        </p:spPr>
        <p:txBody>
          <a:bodyPr/>
          <a:lstStyle/>
          <a:p>
            <a:r>
              <a:rPr lang="en-GB" sz="4400" dirty="0"/>
              <a:t>Queries?</a:t>
            </a:r>
            <a:br>
              <a:rPr lang="en-GB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5A0AA-3400-E42B-C259-4A84119D1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29465"/>
            <a:ext cx="6400800" cy="53677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D62DE-F135-CF1F-6314-AC027D6D91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12108-C8E4-F477-70A0-CDA929A113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3144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5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357</Words>
  <Application>Microsoft Office PowerPoint</Application>
  <PresentationFormat>On-screen Show (16:9)</PresentationFormat>
  <Paragraphs>88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Times New Roman</vt:lpstr>
      <vt:lpstr>Calibri</vt:lpstr>
      <vt:lpstr>Times New Roman Bold</vt:lpstr>
      <vt:lpstr>Noto Sans Symbols</vt:lpstr>
      <vt:lpstr>Times New Roman Regular</vt:lpstr>
      <vt:lpstr>Trebuchet MS</vt:lpstr>
      <vt:lpstr>Cambria</vt:lpstr>
      <vt:lpstr>Office Theme</vt:lpstr>
      <vt:lpstr> PlacementIQ Enterprise AI-Powered Placement and Career Readiness System</vt:lpstr>
      <vt:lpstr>ABSTRACT </vt:lpstr>
      <vt:lpstr>INTRODUCTION</vt:lpstr>
      <vt:lpstr> PROBLEM STATEMENT</vt:lpstr>
      <vt:lpstr>EXISTING SYSTEM</vt:lpstr>
      <vt:lpstr>PROPOSED SYSTEM</vt:lpstr>
      <vt:lpstr>PowerPoint Presentation</vt:lpstr>
      <vt:lpstr>Software And Hardware Requirements</vt:lpstr>
      <vt:lpstr>PowerPoint Presentation</vt:lpstr>
      <vt:lpstr>System Architecture  </vt:lpstr>
      <vt:lpstr>Implementation/Methodology</vt:lpstr>
      <vt:lpstr>Algorithm / Methodology</vt:lpstr>
      <vt:lpstr>Implementation &amp; Screenshots</vt:lpstr>
      <vt:lpstr>Results / Output</vt:lpstr>
      <vt:lpstr>Testing</vt:lpstr>
      <vt:lpstr>Conclusion &amp; Future Scope</vt:lpstr>
      <vt:lpstr>References</vt:lpstr>
      <vt:lpstr>Queries?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Dr.J Balaraju</dc:creator>
  <cp:lastModifiedBy>Puram Prudhvi</cp:lastModifiedBy>
  <cp:revision>68</cp:revision>
  <dcterms:created xsi:type="dcterms:W3CDTF">2026-07-08T19:57:09Z</dcterms:created>
  <dcterms:modified xsi:type="dcterms:W3CDTF">2026-10-06T14:55:03Z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2025-02-08T04:00:00Z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2025-02-14T04:00:00Z</vt:filetime>
  </property>
  <property fmtid="{D5CDD505-2E9C-101B-9397-08002B2CF9AE}" pid="5" name="SourceModified">
    <vt:lpwstr>D:20250208122445+05'30'</vt:lpwstr>
  </property>
  <property fmtid="{D5CDD505-2E9C-101B-9397-08002B2CF9AE}" pid="6" name="ICV">
    <vt:lpwstr>C967EC685B904BDF80AD44D2A371DE26_12</vt:lpwstr>
  </property>
  <property fmtid="{D5CDD505-2E9C-101B-9397-08002B2CF9AE}" pid="7" name="KSOProductBuildVer">
    <vt:lpwstr>1033-12.1.26015.26015</vt:lpwstr>
  </property>
</Properties>
</file>